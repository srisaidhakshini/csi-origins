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  <p:sldMasterId id="2147483661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8C7B"/>
    <a:srgbClr val="B7B3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0C4DE8-2E32-44F8-8E1D-E9018A3F4EDF}">
  <a:tblStyle styleId="{2E0C4DE8-2E32-44F8-8E1D-E9018A3F4ED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636ebe4be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f636ebe4be_2_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f636ebe4be_2_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636ebe4be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f636ebe4be_2_47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f636ebe4be_2_47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636ebe4be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857250"/>
            <a:ext cx="54864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3f636ebe4be_2_95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f636ebe4be_2_95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636ebe4be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g3f636ebe4be_2_144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f636ebe4be_2_144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636ebe4be_2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g3f636ebe4be_2_206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f636ebe4be_2_206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636ebe4be_2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3f636ebe4be_2_258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3f636ebe4be_2_258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636ebe4be_2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g3f636ebe4be_2_312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f636ebe4be_2_312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f636ebe4b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6" name="Google Shape;396;g3f636ebe4be_0_10:notes"/>
          <p:cNvSpPr txBox="1">
            <a:spLocks noGrp="1"/>
          </p:cNvSpPr>
          <p:nvPr>
            <p:ph type="body" idx="1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g3f636ebe4be_0_10:notes"/>
          <p:cNvSpPr txBox="1">
            <a:spLocks noGrp="1"/>
          </p:cNvSpPr>
          <p:nvPr>
            <p:ph type="sldNum" idx="12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5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15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" name="Google Shape;59;p15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" name="Google Shape;60;p15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1" name="Google Shape;61;p15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" name="Google Shape;62;p15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15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4" name="Google Shape;64;p15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" name="Google Shape;65;p15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6" name="Google Shape;66;p15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7" name="Google Shape;67;p15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8" name="Google Shape;68;p15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9" name="Google Shape;69;p15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0" name="Google Shape;70;p15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1" name="Google Shape;71;p15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2" name="Google Shape;72;p15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3" name="Google Shape;73;p15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4" name="Google Shape;74;p15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" name="Google Shape;75;p15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15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lang="en" sz="1500" b="1" i="1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01 / 0</a:t>
            </a:r>
            <a:r>
              <a:rPr lang="en" sz="800" b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08610" y="1062990"/>
            <a:ext cx="65151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6300"/>
              <a:buFont typeface="Cambria"/>
              <a:buNone/>
            </a:pPr>
            <a:r>
              <a:rPr lang="en" sz="63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</a:t>
            </a:r>
            <a:r>
              <a:rPr lang="en" sz="6300" b="1" i="0" u="none" strike="noStrike" cap="none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INS</a:t>
            </a:r>
            <a:endParaRPr sz="6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329184" y="209169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mbria"/>
              <a:buNone/>
            </a:pPr>
            <a:r>
              <a:rPr lang="en" sz="1000" b="0" i="1" u="none" strike="noStrike" cap="non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a CSI-VITC hackathon  ·  everything traces back to an origin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6172200" y="617220"/>
            <a:ext cx="2434500" cy="377100"/>
          </a:xfrm>
          <a:prstGeom prst="roundRect">
            <a:avLst>
              <a:gd name="adj" fmla="val 50000"/>
            </a:avLst>
          </a:prstGeom>
          <a:solidFill>
            <a:srgbClr val="F2E65C"/>
          </a:solidFill>
          <a:ln w="1905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172200" y="617220"/>
            <a:ext cx="24345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TRACK  ·  [ </a:t>
            </a:r>
            <a:r>
              <a:rPr lang="en" sz="900" b="1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AGENTIC FINANCE]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15"/>
          <p:cNvCxnSpPr/>
          <p:nvPr/>
        </p:nvCxnSpPr>
        <p:spPr>
          <a:xfrm>
            <a:off x="308610" y="2503170"/>
            <a:ext cx="8538300" cy="0"/>
          </a:xfrm>
          <a:prstGeom prst="straightConnector1">
            <a:avLst/>
          </a:prstGeom>
          <a:noFill/>
          <a:ln w="12700" cap="flat" cmpd="sng">
            <a:solidFill>
              <a:srgbClr val="1C1B1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86" name="Google Shape;86;p15"/>
          <p:cNvSpPr/>
          <p:nvPr/>
        </p:nvSpPr>
        <p:spPr>
          <a:xfrm>
            <a:off x="308610" y="2640330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308610" y="2846070"/>
            <a:ext cx="50064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2100"/>
              <a:buFont typeface="Cambria"/>
              <a:buNone/>
            </a:pPr>
            <a:r>
              <a:rPr lang="en" sz="2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EscrowGuard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308610" y="3326130"/>
            <a:ext cx="37719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ONE-LINE PITCH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308610" y="3531870"/>
            <a:ext cx="50064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200"/>
              <a:buFont typeface="Calibri"/>
              <a:buNone/>
            </a:pPr>
            <a:r>
              <a:rPr lang="en" sz="1200" i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An autonomous milestone &amp; escrow agent that verifies work, agrees payout with both sides, and releases the payment.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726430" y="2571750"/>
            <a:ext cx="3120300" cy="2023200"/>
          </a:xfrm>
          <a:prstGeom prst="roundRect">
            <a:avLst>
              <a:gd name="adj" fmla="val 4068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932170" y="2674620"/>
            <a:ext cx="2743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5932170" y="2866644"/>
            <a:ext cx="27432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lang="en" sz="1500" b="1" i="0" u="none" strike="noStrike" cap="none" dirty="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500" b="1" dirty="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CYBER CATALYSTS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932170" y="3257550"/>
            <a:ext cx="27432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Avanthika P</a:t>
            </a:r>
            <a:r>
              <a:rPr lang="en" sz="1000" b="0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 — [ </a:t>
            </a:r>
            <a:r>
              <a:rPr lang="en" sz="1000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r>
              <a:rPr lang="en" sz="1000" b="0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Gowreesh V T</a:t>
            </a:r>
            <a:r>
              <a:rPr lang="en" sz="1000" b="0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— [ </a:t>
            </a:r>
            <a:r>
              <a:rPr lang="en" sz="1000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Email </a:t>
            </a:r>
            <a:r>
              <a:rPr lang="en" sz="1000" b="0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Prodosh </a:t>
            </a:r>
            <a:r>
              <a:rPr lang="en" sz="1000" b="0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— </a:t>
            </a:r>
            <a:r>
              <a:rPr lang="en" sz="1000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Email ]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Sri Saidhakshini</a:t>
            </a:r>
            <a:r>
              <a:rPr lang="en" sz="1000" b="0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 — [ </a:t>
            </a:r>
            <a:r>
              <a:rPr lang="en" sz="1000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Email </a:t>
            </a:r>
            <a:r>
              <a:rPr lang="en" sz="1000" b="0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15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15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lang="en" sz="800" b="0" i="1" u="none" strike="noStrike" cap="non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note: keep layout, colours &amp; logos as-is — fill placeholders only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16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102;p16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3" name="Google Shape;103;p16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" name="Google Shape;104;p16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5" name="Google Shape;105;p16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6" name="Google Shape;106;p16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" name="Google Shape;107;p16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" name="Google Shape;108;p16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9" name="Google Shape;109;p16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0" name="Google Shape;110;p16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1" name="Google Shape;111;p16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2" name="Google Shape;112;p16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3" name="Google Shape;113;p16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4" name="Google Shape;114;p16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16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16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16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16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16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16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lang="en" sz="1500" b="1" i="1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02 / 0</a:t>
            </a:r>
            <a:r>
              <a:rPr lang="en" sz="800" b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16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16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lang="en" sz="800" b="0" i="1" u="none" strike="noStrike" cap="non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answer in 2–3 lines · readable outside your track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" sz="3000" b="1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Problem </a:t>
            </a:r>
            <a:r>
              <a:rPr lang="en" sz="3000" b="1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Definition </a:t>
            </a:r>
            <a:endParaRPr sz="3000" b="0" i="0" u="none" strike="noStrike" cap="non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42900" y="1611630"/>
            <a:ext cx="288000" cy="2880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342900" y="1611630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788670" y="1563624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WHO &amp; HOW OFTEN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88670" y="1796796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Freelancers and clients, on every paid project — at each milestone hand-off.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342900" y="2345436"/>
            <a:ext cx="288000" cy="2880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342900" y="2345436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88670" y="2297430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TODAY'S WORKAROUND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788670" y="2530602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Manual review and back-and-forth negotiation before either side agrees to release or accept payment.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342900" y="3079242"/>
            <a:ext cx="288000" cy="2880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342900" y="3079242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88670" y="3031236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WHY IT FALLS SHORT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788670" y="3264408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000"/>
              <a:buFont typeface="Calibri"/>
              <a:buNone/>
            </a:pPr>
            <a:r>
              <a:rPr lang="en" sz="1000" b="0" i="1" u="none" strike="noStrike" cap="none" dirty="0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It's slow and subjective — freelancers still risk non-payment, and clients still risk paying for unfinished or bad work.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342900" y="3813048"/>
            <a:ext cx="288000" cy="2880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342900" y="3813048"/>
            <a:ext cx="288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788670" y="3765042"/>
            <a:ext cx="28803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788670" y="3998214"/>
            <a:ext cx="7680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8A8271"/>
              </a:buClr>
              <a:buSzPts val="1000"/>
            </a:pPr>
            <a:r>
              <a:rPr lang="en-IN" sz="1000" i="1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60%+ of freelancers report late or non-payment, and over 50% of creative/software contracts face scope-creep disputes during milestone handoffs (Source: Freelancers Union &amp; Independent Economy Reports).</a:t>
            </a:r>
            <a:endParaRPr sz="1000" i="1" u="none" strike="noStrike" cap="none" dirty="0">
              <a:solidFill>
                <a:srgbClr val="948C7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17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0" name="Google Shape;150;p17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1" name="Google Shape;151;p17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2" name="Google Shape;152;p17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3" name="Google Shape;153;p17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" name="Google Shape;154;p17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5" name="Google Shape;155;p17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6" name="Google Shape;156;p17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7" name="Google Shape;157;p17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8" name="Google Shape;158;p17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9" name="Google Shape;159;p17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0" name="Google Shape;160;p17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1" name="Google Shape;161;p17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Google Shape;162;p17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3" name="Google Shape;163;p17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4" name="Google Shape;164;p17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5" name="Google Shape;165;p17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6" name="Google Shape;166;p17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7" name="Google Shape;167;p17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8" name="Google Shape;168;p17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lang="en" sz="1500" b="1" i="1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03 / 0</a:t>
            </a:r>
            <a:r>
              <a:rPr lang="en" sz="800" b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17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17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lang="en" sz="800" b="0" i="1" u="none" strike="noStrike" cap="non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name it plainly · connect straight back to slide 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" sz="3000" b="1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Proposed </a:t>
            </a:r>
            <a:r>
              <a:rPr lang="en" sz="3000" b="1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Solution </a:t>
            </a:r>
            <a:endParaRPr sz="3000" b="0" i="0" u="none" strike="noStrike" cap="non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308610" y="1680210"/>
            <a:ext cx="54864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800"/>
              <a:buFont typeface="Cambria"/>
              <a:buNone/>
            </a:pPr>
            <a:r>
              <a:rPr lang="en" sz="18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EscrowGuard — Autonomous Milestone &amp; Escrow Agent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08610" y="2091690"/>
            <a:ext cx="85038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1100"/>
              <a:buFont typeface="Calibri"/>
              <a:buNone/>
            </a:pPr>
            <a:r>
              <a:rPr lang="en" sz="1100" b="0" i="1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A pipeline of agents that checks whether freelance work is really done, agrees a fair payout by phone with both sides, and releases the bank payment automatically.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308610" y="2708910"/>
            <a:ext cx="2674500" cy="1885800"/>
          </a:xfrm>
          <a:prstGeom prst="roundRect">
            <a:avLst>
              <a:gd name="adj" fmla="val 4364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14350" y="2914650"/>
            <a:ext cx="274200" cy="2742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514350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514350" y="3291840"/>
            <a:ext cx="226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 A USER DOES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51435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Submit the milestone, take a quick verification call, and get paid — or get paid out — the same day.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154680" y="2708910"/>
            <a:ext cx="2674500" cy="1885800"/>
          </a:xfrm>
          <a:prstGeom prst="roundRect">
            <a:avLst>
              <a:gd name="adj" fmla="val 4364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3360420" y="2914650"/>
            <a:ext cx="274200" cy="2742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3360420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360420" y="3291840"/>
            <a:ext cx="226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WHY IT BEATS THE WORKAROUND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36042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An Audit Agent checks the actual deliverable instead of taking anyone's word for it, and payout is calculated and released in minutes, not days.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6000750" y="2708910"/>
            <a:ext cx="2674500" cy="1885800"/>
          </a:xfrm>
          <a:prstGeom prst="roundRect">
            <a:avLst>
              <a:gd name="adj" fmla="val 4364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6206490" y="2914650"/>
            <a:ext cx="274200" cy="2742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6206490" y="291465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206490" y="3291840"/>
            <a:ext cx="2263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WHAT'S GENUINELY DIFFERENT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206490" y="3703320"/>
            <a:ext cx="2263200" cy="8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A full agent chain — audit, pricing, verbal consent (ElevenLabs), and bank payout (Stitch API) — runs end-to-end with no human in the loop.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8" name="Google Shape;198;p18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9" name="Google Shape;199;p18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0" name="Google Shape;200;p18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1" name="Google Shape;201;p18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2" name="Google Shape;202;p18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3" name="Google Shape;203;p18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4" name="Google Shape;204;p18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18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6" name="Google Shape;206;p18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7" name="Google Shape;207;p18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8" name="Google Shape;208;p18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9" name="Google Shape;209;p18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0" name="Google Shape;210;p18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1" name="Google Shape;211;p18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2" name="Google Shape;212;p18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3" name="Google Shape;213;p18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18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5" name="Google Shape;215;p18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6" name="Google Shape;216;p18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p18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lang="en" sz="1500" b="1" i="1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04 / 0</a:t>
            </a:r>
            <a:r>
              <a:rPr lang="en" sz="800" b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2" name="Google Shape;222;p18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3" name="Google Shape;223;p18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lang="en" sz="800" b="0" i="1" u="none" strike="noStrike" cap="non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walk the full flow · name real services &amp; models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" sz="3000" b="1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System </a:t>
            </a:r>
            <a:r>
              <a:rPr lang="en" sz="3000" b="1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Architecture </a:t>
            </a:r>
            <a:endParaRPr sz="3000" b="1">
              <a:solidFill>
                <a:srgbClr val="1C1B18"/>
              </a:solidFill>
              <a:highlight>
                <a:srgbClr val="F2E65C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5" name="Google Shape;225;p18"/>
          <p:cNvSpPr/>
          <p:nvPr/>
        </p:nvSpPr>
        <p:spPr>
          <a:xfrm>
            <a:off x="490347" y="1645920"/>
            <a:ext cx="1440300" cy="582900"/>
          </a:xfrm>
          <a:prstGeom prst="roundRect">
            <a:avLst>
              <a:gd name="adj" fmla="val 11765"/>
            </a:avLst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49034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Milestone Submitted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8"/>
          <p:cNvCxnSpPr/>
          <p:nvPr/>
        </p:nvCxnSpPr>
        <p:spPr>
          <a:xfrm>
            <a:off x="1930527" y="1937385"/>
            <a:ext cx="240000" cy="0"/>
          </a:xfrm>
          <a:prstGeom prst="straightConnector1">
            <a:avLst/>
          </a:prstGeom>
          <a:noFill/>
          <a:ln w="19050" cap="flat" cmpd="sng">
            <a:solidFill>
              <a:srgbClr val="1C1B1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8" name="Google Shape;228;p18"/>
          <p:cNvSpPr/>
          <p:nvPr/>
        </p:nvSpPr>
        <p:spPr>
          <a:xfrm>
            <a:off x="2170557" y="1645920"/>
            <a:ext cx="1440300" cy="582900"/>
          </a:xfrm>
          <a:prstGeom prst="roundRect">
            <a:avLst>
              <a:gd name="adj" fmla="val 11765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217055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Audit Agent 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8"/>
          <p:cNvCxnSpPr/>
          <p:nvPr/>
        </p:nvCxnSpPr>
        <p:spPr>
          <a:xfrm>
            <a:off x="3610737" y="1937385"/>
            <a:ext cx="240000" cy="0"/>
          </a:xfrm>
          <a:prstGeom prst="straightConnector1">
            <a:avLst/>
          </a:prstGeom>
          <a:noFill/>
          <a:ln w="19050" cap="flat" cmpd="sng">
            <a:solidFill>
              <a:srgbClr val="1C1B1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1" name="Google Shape;231;p18"/>
          <p:cNvSpPr/>
          <p:nvPr/>
        </p:nvSpPr>
        <p:spPr>
          <a:xfrm>
            <a:off x="3850767" y="1645920"/>
            <a:ext cx="1440300" cy="582900"/>
          </a:xfrm>
          <a:prstGeom prst="roundRect">
            <a:avLst>
              <a:gd name="adj" fmla="val 11765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8"/>
          <p:cNvSpPr/>
          <p:nvPr/>
        </p:nvSpPr>
        <p:spPr>
          <a:xfrm>
            <a:off x="385076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Strategy Agent 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8"/>
          <p:cNvCxnSpPr/>
          <p:nvPr/>
        </p:nvCxnSpPr>
        <p:spPr>
          <a:xfrm>
            <a:off x="5290947" y="1937385"/>
            <a:ext cx="240000" cy="0"/>
          </a:xfrm>
          <a:prstGeom prst="straightConnector1">
            <a:avLst/>
          </a:prstGeom>
          <a:noFill/>
          <a:ln w="19050" cap="flat" cmpd="sng">
            <a:solidFill>
              <a:srgbClr val="1C1B1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4" name="Google Shape;234;p18"/>
          <p:cNvSpPr/>
          <p:nvPr/>
        </p:nvSpPr>
        <p:spPr>
          <a:xfrm>
            <a:off x="5530977" y="1645920"/>
            <a:ext cx="1440300" cy="582900"/>
          </a:xfrm>
          <a:prstGeom prst="roundRect">
            <a:avLst>
              <a:gd name="adj" fmla="val 11765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8"/>
          <p:cNvSpPr/>
          <p:nvPr/>
        </p:nvSpPr>
        <p:spPr>
          <a:xfrm>
            <a:off x="553097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[ Voice Agent — ElevenLabs ]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18"/>
          <p:cNvCxnSpPr/>
          <p:nvPr/>
        </p:nvCxnSpPr>
        <p:spPr>
          <a:xfrm>
            <a:off x="6971157" y="1937385"/>
            <a:ext cx="240000" cy="0"/>
          </a:xfrm>
          <a:prstGeom prst="straightConnector1">
            <a:avLst/>
          </a:prstGeom>
          <a:noFill/>
          <a:ln w="19050" cap="flat" cmpd="sng">
            <a:solidFill>
              <a:srgbClr val="1C1B1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7" name="Google Shape;237;p18"/>
          <p:cNvSpPr/>
          <p:nvPr/>
        </p:nvSpPr>
        <p:spPr>
          <a:xfrm>
            <a:off x="7211187" y="1645920"/>
            <a:ext cx="1440300" cy="582900"/>
          </a:xfrm>
          <a:prstGeom prst="roundRect">
            <a:avLst>
              <a:gd name="adj" fmla="val 11765"/>
            </a:avLst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7211187" y="1645920"/>
            <a:ext cx="14403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Execution Agent — Payout (Stitch API)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308610" y="2983230"/>
            <a:ext cx="2674500" cy="1645800"/>
          </a:xfrm>
          <a:prstGeom prst="roundRect">
            <a:avLst>
              <a:gd name="adj" fmla="val 5000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514350" y="3188970"/>
            <a:ext cx="274200" cy="2742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8"/>
          <p:cNvSpPr/>
          <p:nvPr/>
        </p:nvSpPr>
        <p:spPr>
          <a:xfrm>
            <a:off x="514350" y="318897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514350" y="3566160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KEY TECHNICAL DECISION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514350" y="3943350"/>
            <a:ext cx="22632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Split the pipeline into separate agents (audit, pricing, voice, execution) so each step can be tested and audited on its own.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3154680" y="2983230"/>
            <a:ext cx="2674500" cy="1645800"/>
          </a:xfrm>
          <a:prstGeom prst="roundRect">
            <a:avLst>
              <a:gd name="adj" fmla="val 5000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3360420" y="3188970"/>
            <a:ext cx="274200" cy="2742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3360420" y="318897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3360420" y="3566160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HARDEST PART TO BUILD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3360420" y="3943350"/>
            <a:ext cx="22632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Getting binding agreement from both sides before money moves — solved with a live ElevenLabs voice call that captures verbal consent before payout triggers.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6000750" y="2983230"/>
            <a:ext cx="2674500" cy="1645800"/>
          </a:xfrm>
          <a:prstGeom prst="roundRect">
            <a:avLst>
              <a:gd name="adj" fmla="val 5000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6206490" y="3188970"/>
            <a:ext cx="274200" cy="2742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6206490" y="318897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6206490" y="3566160"/>
            <a:ext cx="2263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HOW YOU KNOW IT WORKS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6206490" y="3943350"/>
            <a:ext cx="22632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Ran sample milestones end-to-end and confirmed payout only fires after the audit passes and both parties verbally confirm on the call.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0" name="Google Shape;260;p19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1" name="Google Shape;261;p19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2" name="Google Shape;262;p19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3" name="Google Shape;263;p19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4" name="Google Shape;264;p19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5" name="Google Shape;265;p19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6" name="Google Shape;266;p19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7;p19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8" name="Google Shape;268;p19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9" name="Google Shape;269;p19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0" name="Google Shape;270;p19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1" name="Google Shape;271;p19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2" name="Google Shape;272;p19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3" name="Google Shape;273;p19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4" name="Google Shape;274;p19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5" name="Google Shape;275;p19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6" name="Google Shape;276;p19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7" name="Google Shape;277;p19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8" name="Google Shape;278;p19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9" name="Google Shape;279;p19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lang="en" sz="1500" b="1" i="1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9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9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05 / 0</a:t>
            </a:r>
            <a:r>
              <a:rPr lang="en" sz="800" b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4" name="Google Shape;284;p19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5" name="Google Shape;285;p19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lang="en" sz="800" b="0" i="1" u="none" strike="noStrike" cap="non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a working slice with a known limit beats an over-promised demo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9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" sz="3000" b="1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Feasibility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3000" b="1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&amp;</a:t>
            </a: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3000" b="1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Scope</a:t>
            </a:r>
            <a:r>
              <a:rPr lang="en" sz="1100">
                <a:solidFill>
                  <a:schemeClr val="dk1"/>
                </a:solidFill>
                <a:highlight>
                  <a:srgbClr val="F2E65C"/>
                </a:highlight>
              </a:rPr>
              <a:t> </a:t>
            </a:r>
            <a:endParaRPr sz="2400" b="0" i="0" u="none" strike="noStrike" cap="non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9"/>
          <p:cNvSpPr/>
          <p:nvPr/>
        </p:nvSpPr>
        <p:spPr>
          <a:xfrm>
            <a:off x="308610" y="1611630"/>
            <a:ext cx="4149000" cy="1337400"/>
          </a:xfrm>
          <a:prstGeom prst="roundRect">
            <a:avLst>
              <a:gd name="adj" fmla="val 6154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514350" y="1803654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514350" y="180365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891540" y="176250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559553" y="2187582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900" b="1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In:</a:t>
            </a:r>
            <a:r>
              <a:rPr lang="en-IN" sz="900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GitHub PR and document artifact verification, strategy-bound payout calculations, interactive voice confirmation via </a:t>
            </a:r>
            <a:r>
              <a:rPr lang="en-IN" sz="900" dirty="0" err="1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ElevenLabs</a:t>
            </a:r>
            <a:r>
              <a:rPr lang="en-IN" sz="900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instant bank payout execution using Stitch API.</a:t>
            </a:r>
          </a:p>
          <a:p>
            <a:pPr lvl="0"/>
            <a:r>
              <a:rPr lang="en-IN" sz="900" b="1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Out:</a:t>
            </a:r>
            <a:r>
              <a:rPr lang="en-IN" sz="900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Legal contract dispute lawsuits, complex physical asset deliverables, and non-digital milestone verification.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4663440" y="1611630"/>
            <a:ext cx="4149000" cy="1337400"/>
          </a:xfrm>
          <a:prstGeom prst="roundRect">
            <a:avLst>
              <a:gd name="adj" fmla="val 6154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4869180" y="1803654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4869180" y="180365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5246370" y="176250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RUNNING COST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/>
          <p:nvPr/>
        </p:nvSpPr>
        <p:spPr>
          <a:xfrm>
            <a:off x="4869180" y="2125980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8A8271"/>
              </a:buClr>
              <a:buSzPts val="900"/>
            </a:pPr>
            <a:r>
              <a:rPr lang="en-IN" sz="900" b="1" dirty="0">
                <a:solidFill>
                  <a:srgbClr val="948C7B"/>
                </a:solidFill>
              </a:rPr>
              <a:t>~$0.05 per milestone run</a:t>
            </a:r>
            <a:r>
              <a:rPr lang="en-IN" sz="900" dirty="0">
                <a:solidFill>
                  <a:srgbClr val="948C7B"/>
                </a:solidFill>
              </a:rPr>
              <a:t> (API costs across </a:t>
            </a:r>
            <a:r>
              <a:rPr lang="en-IN" sz="900" dirty="0" err="1">
                <a:solidFill>
                  <a:srgbClr val="948C7B"/>
                </a:solidFill>
              </a:rPr>
              <a:t>ElevenLabs</a:t>
            </a:r>
            <a:r>
              <a:rPr lang="en-IN" sz="900" dirty="0">
                <a:solidFill>
                  <a:srgbClr val="948C7B"/>
                </a:solidFill>
              </a:rPr>
              <a:t> streaming voice, Stitch bank transaction fees, and LLM inference hosted on Nexus infrastructure).</a:t>
            </a:r>
            <a:endParaRPr sz="900" b="0" i="0" u="none" strike="noStrike" cap="none" dirty="0">
              <a:solidFill>
                <a:srgbClr val="948C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308610" y="3120390"/>
            <a:ext cx="4149000" cy="1337400"/>
          </a:xfrm>
          <a:prstGeom prst="roundRect">
            <a:avLst>
              <a:gd name="adj" fmla="val 6154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514350" y="3312414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514350" y="331241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891540" y="327126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RISKS &amp; FALLBACK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514350" y="3634740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900" b="1" dirty="0">
                <a:solidFill>
                  <a:srgbClr val="948C7B"/>
                </a:solidFill>
              </a:rPr>
              <a:t>Risk:</a:t>
            </a:r>
            <a:r>
              <a:rPr lang="en-IN" sz="900" dirty="0">
                <a:solidFill>
                  <a:srgbClr val="948C7B"/>
                </a:solidFill>
              </a:rPr>
              <a:t> Voice audio drops or debtor refuses verbal confirmation mid-call.</a:t>
            </a:r>
          </a:p>
          <a:p>
            <a:pPr lvl="0"/>
            <a:r>
              <a:rPr lang="en-IN" sz="900" b="1" dirty="0">
                <a:solidFill>
                  <a:srgbClr val="948C7B"/>
                </a:solidFill>
              </a:rPr>
              <a:t>Fallback:</a:t>
            </a:r>
            <a:r>
              <a:rPr lang="en-IN" sz="900" dirty="0">
                <a:solidFill>
                  <a:srgbClr val="948C7B"/>
                </a:solidFill>
              </a:rPr>
              <a:t> Agent pauses execution state graph, logs partial transcripts on Nexus, and routes request to Human-in-the-Loop (HITL) dashboard.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900"/>
              <a:buFont typeface="Calibri"/>
              <a:buNone/>
            </a:pP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4663440" y="3120390"/>
            <a:ext cx="4149000" cy="1337400"/>
          </a:xfrm>
          <a:prstGeom prst="roundRect">
            <a:avLst>
              <a:gd name="adj" fmla="val 6154"/>
            </a:avLst>
          </a:prstGeom>
          <a:solidFill>
            <a:srgbClr val="F3ECD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4869180" y="3312414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4869180" y="331241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5246370" y="3271266"/>
            <a:ext cx="33948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AFTER THE HACKATHON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4869180" y="3634740"/>
            <a:ext cx="3737700" cy="6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15000"/>
              </a:lnSpc>
              <a:buClr>
                <a:srgbClr val="8A8271"/>
              </a:buClr>
              <a:buSzPts val="900"/>
            </a:pPr>
            <a:r>
              <a:rPr lang="en-IN" sz="900" dirty="0">
                <a:solidFill>
                  <a:srgbClr val="948C7B"/>
                </a:solidFill>
              </a:rPr>
              <a:t>Expand integrations to Upwork/Figma webhooks, implement multi-currency FX payouts, and add smart-contract escrow vaulting.</a:t>
            </a:r>
            <a:endParaRPr sz="900" b="0" i="0" u="none" strike="noStrike" cap="none" dirty="0">
              <a:solidFill>
                <a:srgbClr val="948C7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2" name="Google Shape;312;p20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3" name="Google Shape;313;p20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4" name="Google Shape;314;p20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5" name="Google Shape;315;p20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6" name="Google Shape;316;p20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7" name="Google Shape;317;p20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8" name="Google Shape;318;p20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9" name="Google Shape;319;p20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0" name="Google Shape;320;p20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1" name="Google Shape;321;p20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2" name="Google Shape;322;p20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3" name="Google Shape;323;p20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4" name="Google Shape;324;p20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5" name="Google Shape;325;p20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6" name="Google Shape;326;p20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7" name="Google Shape;327;p20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8" name="Google Shape;328;p20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29" name="Google Shape;329;p20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0" name="Google Shape;330;p20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1" name="Google Shape;331;p20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lang="en" sz="1500" b="1" i="1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06 / 0</a:t>
            </a:r>
            <a:r>
              <a:rPr lang="en" sz="800" b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20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7" name="Google Shape;337;p20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lang="en" sz="800" b="0" i="1" u="none" strike="noStrike" cap="non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show how the figure was measured, an estimate is fine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2600"/>
              <a:buFont typeface="Cambria"/>
              <a:buNone/>
            </a:pPr>
            <a:r>
              <a:rPr lang="en" sz="2600" b="1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Impact </a:t>
            </a:r>
            <a:r>
              <a:rPr lang="en" sz="2600" b="1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Metrics </a:t>
            </a:r>
            <a:endParaRPr sz="2600" b="0" i="0" u="none" strike="noStrike" cap="none">
              <a:solidFill>
                <a:schemeClr val="dk1"/>
              </a:solidFill>
              <a:highlight>
                <a:srgbClr val="F2E65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308610" y="1611630"/>
            <a:ext cx="3154800" cy="3017400"/>
          </a:xfrm>
          <a:prstGeom prst="roundRect">
            <a:avLst>
              <a:gd name="adj" fmla="val 2727"/>
            </a:avLst>
          </a:prstGeom>
          <a:solidFill>
            <a:srgbClr val="F2E65C"/>
          </a:solidFill>
          <a:ln w="1905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308610" y="1851660"/>
            <a:ext cx="31548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4800"/>
              <a:buFont typeface="Cambria"/>
              <a:buNone/>
            </a:pPr>
            <a:r>
              <a:rPr lang="en" sz="4800" b="1" i="0" u="none" strike="noStrike" cap="none" dirty="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[ </a:t>
            </a:r>
            <a:r>
              <a:rPr lang="en" sz="4800" b="1" dirty="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r>
              <a:rPr lang="en" sz="4800" b="1" i="0" u="none" strike="noStrike" cap="none" dirty="0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0% ]</a:t>
            </a:r>
            <a:endParaRPr sz="4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514350" y="2983230"/>
            <a:ext cx="27432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1C1B18"/>
              </a:buClr>
              <a:buSzPts val="1000"/>
            </a:pPr>
            <a:r>
              <a:rPr lang="en-IN" sz="1000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Reduction in milestone dispute-to-payout resolution time (from 5+ days down to under 10 minutes)</a:t>
            </a:r>
            <a:endParaRPr sz="1000" b="0" i="0" u="none" strike="noStrike" cap="none" dirty="0">
              <a:solidFill>
                <a:srgbClr val="948C7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cxnSp>
        <p:nvCxnSpPr>
          <p:cNvPr id="342" name="Google Shape;342;p20"/>
          <p:cNvCxnSpPr/>
          <p:nvPr/>
        </p:nvCxnSpPr>
        <p:spPr>
          <a:xfrm>
            <a:off x="582930" y="3669030"/>
            <a:ext cx="2606100" cy="0"/>
          </a:xfrm>
          <a:prstGeom prst="straightConnector1">
            <a:avLst/>
          </a:prstGeom>
          <a:noFill/>
          <a:ln w="12700" cap="flat" cmpd="sng">
            <a:solidFill>
              <a:srgbClr val="1C1B18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343" name="Google Shape;343;p20"/>
          <p:cNvSpPr/>
          <p:nvPr/>
        </p:nvSpPr>
        <p:spPr>
          <a:xfrm>
            <a:off x="493776" y="3758154"/>
            <a:ext cx="2928481" cy="267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1C1B18"/>
              </a:buClr>
              <a:buSzPts val="800"/>
            </a:pPr>
            <a:r>
              <a:rPr lang="en-IN" sz="800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Estimated by timing a manual client-freelancer review cycle (avg. 120 hours) versus </a:t>
            </a:r>
            <a:r>
              <a:rPr lang="en-IN" sz="800" dirty="0" err="1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EscrowGuard’s</a:t>
            </a:r>
            <a:r>
              <a:rPr lang="en-IN" sz="800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automated workflow (avg. 6 minutes from PR submit to Stitch payout).</a:t>
            </a:r>
            <a:endParaRPr sz="800" b="0" i="0" u="none" strike="noStrike" cap="none" dirty="0">
              <a:solidFill>
                <a:srgbClr val="948C7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3669030" y="1632204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3669030" y="163220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/>
          <p:nvPr/>
        </p:nvSpPr>
        <p:spPr>
          <a:xfrm>
            <a:off x="4046220" y="159105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 dirty="0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 MEASURABLY IMPROVES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4046220" y="183108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8A8271"/>
              </a:buClr>
              <a:buSzPts val="900"/>
            </a:pPr>
            <a:r>
              <a:rPr lang="en-IN" sz="900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Milestone payout speed accelerates from days to minutes, and milestone payment defaults drop close to 0%.</a:t>
            </a:r>
            <a:endParaRPr sz="900" b="0" i="0" u="none" strike="noStrike" cap="none" dirty="0">
              <a:solidFill>
                <a:srgbClr val="948C7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3669030" y="2352294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3669030" y="235229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4046220" y="231114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WHO ELSE COULD USE 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4046220" y="255117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8A8271"/>
              </a:buClr>
              <a:buSzPts val="900"/>
            </a:pPr>
            <a:r>
              <a:rPr lang="en-IN" sz="900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Gig platforms (Fiverr, Upwork), B2B software agencies, contractor networks, and decentralized autonomous organizations (DAOs).</a:t>
            </a:r>
            <a:endParaRPr sz="900" b="0" i="0" u="none" strike="noStrike" cap="none" dirty="0">
              <a:solidFill>
                <a:srgbClr val="948C7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3669030" y="3072384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20"/>
          <p:cNvSpPr/>
          <p:nvPr/>
        </p:nvSpPr>
        <p:spPr>
          <a:xfrm>
            <a:off x="3669030" y="307238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4046220" y="303123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WHAT COULD GO WRONG / BE MISUSED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4046220" y="327126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8A8271"/>
              </a:buClr>
              <a:buSzPts val="900"/>
            </a:pPr>
            <a:r>
              <a:rPr lang="en-IN" sz="900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user spoofing audio or attempting to trick the Audit Agent with fabricated code deliverables</a:t>
            </a:r>
            <a:r>
              <a:rPr lang="en-IN" sz="900" dirty="0"/>
              <a:t>.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3669030" y="3792474"/>
            <a:ext cx="260700" cy="260700"/>
          </a:xfrm>
          <a:prstGeom prst="ellipse">
            <a:avLst/>
          </a:prstGeom>
          <a:solidFill>
            <a:srgbClr val="F2E65C"/>
          </a:solidFill>
          <a:ln w="15875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3669030" y="3792474"/>
            <a:ext cx="260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100"/>
              <a:buFont typeface="Cambria"/>
              <a:buNone/>
            </a:pPr>
            <a:r>
              <a:rPr lang="en" sz="1100" b="1" i="0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4046220" y="3751326"/>
            <a:ext cx="48006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900"/>
              <a:buFont typeface="Calibri"/>
              <a:buNone/>
            </a:pPr>
            <a:r>
              <a:rPr lang="en" sz="9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HOW YOU'D HANDLE THAT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4046220" y="3991356"/>
            <a:ext cx="48006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8A8271"/>
              </a:buClr>
              <a:buSzPts val="900"/>
            </a:pPr>
            <a:r>
              <a:rPr lang="en-IN" sz="900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Require cryptographic commit signatures, sandboxed </a:t>
            </a:r>
            <a:r>
              <a:rPr lang="en-IN" sz="900" dirty="0" err="1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CodeCrafters</a:t>
            </a:r>
            <a:r>
              <a:rPr lang="en-IN" sz="900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test execution, and strict Human-in-the-Loop approval for payouts over $1,000.</a:t>
            </a:r>
            <a:endParaRPr sz="900" b="0" i="0" u="none" strike="noStrike" cap="none" dirty="0">
              <a:solidFill>
                <a:srgbClr val="948C7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6" name="Google Shape;366;p21"/>
          <p:cNvCxnSpPr/>
          <p:nvPr/>
        </p:nvCxnSpPr>
        <p:spPr>
          <a:xfrm>
            <a:off x="617220" y="0"/>
            <a:ext cx="0" cy="51435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367" name="Google Shape;367;p21"/>
          <p:cNvCxnSpPr/>
          <p:nvPr/>
        </p:nvCxnSpPr>
        <p:spPr>
          <a:xfrm>
            <a:off x="1337310" y="0"/>
            <a:ext cx="0" cy="51435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368" name="Google Shape;368;p21"/>
          <p:cNvCxnSpPr/>
          <p:nvPr/>
        </p:nvCxnSpPr>
        <p:spPr>
          <a:xfrm>
            <a:off x="2057400" y="0"/>
            <a:ext cx="0" cy="5143500"/>
          </a:xfrm>
          <a:prstGeom prst="straightConnector1">
            <a:avLst/>
          </a:prstGeom>
          <a:noFill/>
          <a:ln>
            <a:noFill/>
          </a:ln>
        </p:spPr>
      </p:cxnSp>
      <p:cxnSp>
        <p:nvCxnSpPr>
          <p:cNvPr id="369" name="Google Shape;369;p21"/>
          <p:cNvCxnSpPr/>
          <p:nvPr/>
        </p:nvCxnSpPr>
        <p:spPr>
          <a:xfrm>
            <a:off x="277749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0" name="Google Shape;370;p21"/>
          <p:cNvCxnSpPr/>
          <p:nvPr/>
        </p:nvCxnSpPr>
        <p:spPr>
          <a:xfrm>
            <a:off x="349758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1" name="Google Shape;371;p21"/>
          <p:cNvCxnSpPr/>
          <p:nvPr/>
        </p:nvCxnSpPr>
        <p:spPr>
          <a:xfrm>
            <a:off x="421767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2" name="Google Shape;372;p21"/>
          <p:cNvCxnSpPr/>
          <p:nvPr/>
        </p:nvCxnSpPr>
        <p:spPr>
          <a:xfrm>
            <a:off x="493776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3" name="Google Shape;373;p21"/>
          <p:cNvCxnSpPr/>
          <p:nvPr/>
        </p:nvCxnSpPr>
        <p:spPr>
          <a:xfrm>
            <a:off x="565785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4" name="Google Shape;374;p21"/>
          <p:cNvCxnSpPr/>
          <p:nvPr/>
        </p:nvCxnSpPr>
        <p:spPr>
          <a:xfrm>
            <a:off x="637794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5" name="Google Shape;375;p21"/>
          <p:cNvCxnSpPr/>
          <p:nvPr/>
        </p:nvCxnSpPr>
        <p:spPr>
          <a:xfrm>
            <a:off x="709803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6" name="Google Shape;376;p21"/>
          <p:cNvCxnSpPr/>
          <p:nvPr/>
        </p:nvCxnSpPr>
        <p:spPr>
          <a:xfrm>
            <a:off x="781812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7" name="Google Shape;377;p21"/>
          <p:cNvCxnSpPr/>
          <p:nvPr/>
        </p:nvCxnSpPr>
        <p:spPr>
          <a:xfrm>
            <a:off x="8538210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8" name="Google Shape;378;p21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9" name="Google Shape;379;p21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0" name="Google Shape;380;p21"/>
          <p:cNvCxnSpPr/>
          <p:nvPr/>
        </p:nvCxnSpPr>
        <p:spPr>
          <a:xfrm>
            <a:off x="0" y="192024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1" name="Google Shape;381;p21"/>
          <p:cNvCxnSpPr/>
          <p:nvPr/>
        </p:nvCxnSpPr>
        <p:spPr>
          <a:xfrm>
            <a:off x="0" y="257175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2" name="Google Shape;382;p21"/>
          <p:cNvCxnSpPr/>
          <p:nvPr/>
        </p:nvCxnSpPr>
        <p:spPr>
          <a:xfrm>
            <a:off x="0" y="322326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3" name="Google Shape;383;p21"/>
          <p:cNvCxnSpPr/>
          <p:nvPr/>
        </p:nvCxnSpPr>
        <p:spPr>
          <a:xfrm>
            <a:off x="0" y="387477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4" name="Google Shape;384;p21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5" name="Google Shape;385;p21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lang="en" sz="1500" b="1" i="1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21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1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07 / 0</a:t>
            </a:r>
            <a:r>
              <a:rPr lang="en" sz="800" b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0" name="Google Shape;390;p21"/>
          <p:cNvCxnSpPr/>
          <p:nvPr/>
        </p:nvCxnSpPr>
        <p:spPr>
          <a:xfrm>
            <a:off x="308610" y="4814316"/>
            <a:ext cx="240000" cy="0"/>
          </a:xfrm>
          <a:prstGeom prst="straightConnector1">
            <a:avLst/>
          </a:prstGeom>
          <a:noFill/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1" name="Google Shape;391;p21"/>
          <p:cNvSpPr/>
          <p:nvPr/>
        </p:nvSpPr>
        <p:spPr>
          <a:xfrm>
            <a:off x="308610" y="4855464"/>
            <a:ext cx="58293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800"/>
              <a:buFont typeface="Cambria"/>
              <a:buNone/>
            </a:pPr>
            <a:r>
              <a:rPr lang="en" sz="800" b="0" i="1" u="none" strike="noStrike" cap="none">
                <a:solidFill>
                  <a:srgbClr val="8A8271"/>
                </a:solidFill>
                <a:latin typeface="Cambria"/>
                <a:ea typeface="Cambria"/>
                <a:cs typeface="Cambria"/>
                <a:sym typeface="Cambria"/>
              </a:rPr>
              <a:t>one source per line · uncredited work is disqualifying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308610" y="788670"/>
            <a:ext cx="8503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3000"/>
              <a:buFont typeface="Cambria"/>
              <a:buNone/>
            </a:pPr>
            <a:r>
              <a:rPr lang="en" sz="3000" b="1">
                <a:solidFill>
                  <a:srgbClr val="1C1B18"/>
                </a:solidFill>
                <a:highlight>
                  <a:srgbClr val="F2E65C"/>
                </a:highlight>
                <a:latin typeface="Cambria"/>
                <a:ea typeface="Cambria"/>
                <a:cs typeface="Cambria"/>
                <a:sym typeface="Cambria"/>
              </a:rPr>
              <a:t>References </a:t>
            </a:r>
            <a:r>
              <a:rPr lang="en" sz="3000" b="1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&amp; Attribution </a:t>
            </a:r>
            <a:endParaRPr sz="3000" b="1">
              <a:solidFill>
                <a:srgbClr val="1C1B1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29BD44-A26C-60E8-175F-047834A11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468426"/>
              </p:ext>
            </p:extLst>
          </p:nvPr>
        </p:nvGraphicFramePr>
        <p:xfrm>
          <a:off x="308610" y="1366611"/>
          <a:ext cx="7955280" cy="3262312"/>
        </p:xfrm>
        <a:graphic>
          <a:graphicData uri="http://schemas.openxmlformats.org/drawingml/2006/table">
            <a:tbl>
              <a:tblPr>
                <a:tableStyleId>{2E0C4DE8-2E32-44F8-8E1D-E9018A3F4EDF}</a:tableStyleId>
              </a:tblPr>
              <a:tblGrid>
                <a:gridCol w="1591056">
                  <a:extLst>
                    <a:ext uri="{9D8B030D-6E8A-4147-A177-3AD203B41FA5}">
                      <a16:colId xmlns:a16="http://schemas.microsoft.com/office/drawing/2014/main" val="82944018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3520403476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849868048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893660299"/>
                    </a:ext>
                  </a:extLst>
                </a:gridCol>
                <a:gridCol w="1591056">
                  <a:extLst>
                    <a:ext uri="{9D8B030D-6E8A-4147-A177-3AD203B41FA5}">
                      <a16:colId xmlns:a16="http://schemas.microsoft.com/office/drawing/2014/main" val="3547732702"/>
                    </a:ext>
                  </a:extLst>
                </a:gridCol>
              </a:tblGrid>
              <a:tr h="238594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en-IN" sz="9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4413" marR="34413" marT="22942" marB="22942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SOURCE (author, title, year)</a:t>
                      </a:r>
                      <a:endParaRPr lang="en-IN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4413" marR="34413" marT="22942" marB="22942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WHAT IT GAVE YOU</a:t>
                      </a:r>
                      <a:endParaRPr lang="en-IN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4413" marR="34413" marT="22942" marB="22942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b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BORROWED / YOURS</a:t>
                      </a:r>
                      <a:endParaRPr lang="en-IN" sz="9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4413" marR="34413" marT="22942" marB="22942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LICENCE</a:t>
                      </a:r>
                      <a:endParaRPr lang="en-IN" sz="9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4413" marR="34413" marT="22942" marB="22942"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454262"/>
                  </a:ext>
                </a:extLst>
              </a:tr>
              <a:tr h="720370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b="1" dirty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Paper</a:t>
                      </a:r>
                      <a:endParaRPr lang="en-IN" sz="900" dirty="0">
                        <a:solidFill>
                          <a:srgbClr val="948C7B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dirty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Wu et al., "</a:t>
                      </a:r>
                      <a:r>
                        <a:rPr lang="en-IN" sz="900" dirty="0" err="1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AutoGPT</a:t>
                      </a:r>
                      <a:r>
                        <a:rPr lang="en-IN" sz="900" dirty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: An Empirical Study of Autonomous Agents," 2023 / </a:t>
                      </a:r>
                      <a:r>
                        <a:rPr lang="en-IN" sz="900" dirty="0" err="1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LangGraph</a:t>
                      </a:r>
                      <a:r>
                        <a:rPr lang="en-IN" sz="900" dirty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Design Papers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dirty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patterns for multi-agent state machines &amp; Human-in-the-Loop interrupt primitives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dirty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Borrowed (Concepts &amp; Patterns)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dirty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Open Access</a:t>
                      </a:r>
                    </a:p>
                  </a:txBody>
                  <a:tcPr marL="34413" marR="34413" marT="22942" marB="22942" anchor="ctr"/>
                </a:tc>
                <a:extLst>
                  <a:ext uri="{0D108BD9-81ED-4DB2-BD59-A6C34878D82A}">
                    <a16:rowId xmlns:a16="http://schemas.microsoft.com/office/drawing/2014/main" val="1343804350"/>
                  </a:ext>
                </a:extLst>
              </a:tr>
              <a:tr h="52765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b="1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Repository</a:t>
                      </a:r>
                      <a:endParaRPr lang="en-IN" sz="900">
                        <a:solidFill>
                          <a:srgbClr val="948C7B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b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langchain-ai/langgraph</a:t>
                      </a: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(GitHub, 2024–2026)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State graph orchestration framework for multi-agent routing and checkpointing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dirty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Borrowed (SDK Framework)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MIT</a:t>
                      </a:r>
                    </a:p>
                  </a:txBody>
                  <a:tcPr marL="34413" marR="34413" marT="22942" marB="22942" anchor="ctr"/>
                </a:tc>
                <a:extLst>
                  <a:ext uri="{0D108BD9-81ED-4DB2-BD59-A6C34878D82A}">
                    <a16:rowId xmlns:a16="http://schemas.microsoft.com/office/drawing/2014/main" val="3168177937"/>
                  </a:ext>
                </a:extLst>
              </a:tr>
              <a:tr h="6240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b="1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Documentation</a:t>
                      </a:r>
                      <a:endParaRPr lang="en-IN" sz="900">
                        <a:solidFill>
                          <a:srgbClr val="948C7B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Stitch Open Banking API Docs &amp; ElevenLabs Conversational AI Docs (2026)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Payment initiation endpoints, webhook schemas, and real-time WebSockets voice SDK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dirty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Borrowed (APIs &amp; Docs)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Proprietary / Open API</a:t>
                      </a:r>
                    </a:p>
                  </a:txBody>
                  <a:tcPr marL="34413" marR="34413" marT="22942" marB="22942" anchor="ctr"/>
                </a:tc>
                <a:extLst>
                  <a:ext uri="{0D108BD9-81ED-4DB2-BD59-A6C34878D82A}">
                    <a16:rowId xmlns:a16="http://schemas.microsoft.com/office/drawing/2014/main" val="2668795967"/>
                  </a:ext>
                </a:extLst>
              </a:tr>
              <a:tr h="62401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b="1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Dataset</a:t>
                      </a:r>
                      <a:endParaRPr lang="en-IN" sz="900">
                        <a:solidFill>
                          <a:srgbClr val="948C7B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Synthetic Financial Transaction &amp; Milestone Dataset (Generated via </a:t>
                      </a:r>
                      <a:r>
                        <a:rPr lang="en-IN" sz="900" b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Faker</a:t>
                      </a: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/ Python)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Mock invoices, project deliverables, and bank account payloads for safe testing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dirty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Yours (Synthetically Generated)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CC0 (Public Domain)</a:t>
                      </a:r>
                    </a:p>
                  </a:txBody>
                  <a:tcPr marL="34413" marR="34413" marT="22942" marB="22942" anchor="ctr"/>
                </a:tc>
                <a:extLst>
                  <a:ext uri="{0D108BD9-81ED-4DB2-BD59-A6C34878D82A}">
                    <a16:rowId xmlns:a16="http://schemas.microsoft.com/office/drawing/2014/main" val="3390646329"/>
                  </a:ext>
                </a:extLst>
              </a:tr>
              <a:tr h="527659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b="1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Weights</a:t>
                      </a:r>
                      <a:endParaRPr lang="en-IN" sz="900">
                        <a:solidFill>
                          <a:srgbClr val="948C7B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OpenAI </a:t>
                      </a:r>
                      <a:r>
                        <a:rPr lang="en-IN" sz="900" b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gpt-4o-mini</a:t>
                      </a: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/ Meta </a:t>
                      </a:r>
                      <a:r>
                        <a:rPr lang="en-IN" sz="900" b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Llama-3.1-8B-Instruct</a:t>
                      </a:r>
                      <a:endParaRPr lang="en-IN" sz="900">
                        <a:solidFill>
                          <a:srgbClr val="948C7B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Base reasoning, tool-calling capabilities, and intent extraction for agent nodes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Borrowed (API Model Weights)</a:t>
                      </a:r>
                    </a:p>
                  </a:txBody>
                  <a:tcPr marL="34413" marR="34413" marT="22942" marB="22942" anchor="ctr"/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900" dirty="0">
                          <a:solidFill>
                            <a:srgbClr val="948C7B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Open Weights / Commercial API</a:t>
                      </a:r>
                    </a:p>
                  </a:txBody>
                  <a:tcPr marL="34413" marR="34413" marT="22942" marB="22942" anchor="ctr"/>
                </a:tc>
                <a:extLst>
                  <a:ext uri="{0D108BD9-81ED-4DB2-BD59-A6C34878D82A}">
                    <a16:rowId xmlns:a16="http://schemas.microsoft.com/office/drawing/2014/main" val="12370592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3E6"/>
        </a:solid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9" name="Google Shape;399;p22"/>
          <p:cNvCxnSpPr/>
          <p:nvPr/>
        </p:nvCxnSpPr>
        <p:spPr>
          <a:xfrm>
            <a:off x="0" y="61722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0" name="Google Shape;400;p22"/>
          <p:cNvCxnSpPr/>
          <p:nvPr/>
        </p:nvCxnSpPr>
        <p:spPr>
          <a:xfrm>
            <a:off x="0" y="126873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1" name="Google Shape;401;p22"/>
          <p:cNvCxnSpPr/>
          <p:nvPr/>
        </p:nvCxnSpPr>
        <p:spPr>
          <a:xfrm>
            <a:off x="0" y="4526280"/>
            <a:ext cx="9141600" cy="0"/>
          </a:xfrm>
          <a:prstGeom prst="straightConnector1">
            <a:avLst/>
          </a:prstGeom>
          <a:noFill/>
          <a:ln w="9525" cap="flat" cmpd="sng">
            <a:solidFill>
              <a:srgbClr val="ECE2C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2" name="Google Shape;402;p22"/>
          <p:cNvSpPr/>
          <p:nvPr/>
        </p:nvSpPr>
        <p:spPr>
          <a:xfrm>
            <a:off x="308610" y="192024"/>
            <a:ext cx="14403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1500"/>
              <a:buFont typeface="Cambria"/>
              <a:buNone/>
            </a:pPr>
            <a:r>
              <a:rPr lang="en" sz="1500" b="1" i="1" u="none" strike="noStrike" cap="none">
                <a:solidFill>
                  <a:srgbClr val="1C1B18"/>
                </a:solidFill>
                <a:latin typeface="Cambria"/>
                <a:ea typeface="Cambria"/>
                <a:cs typeface="Cambria"/>
                <a:sym typeface="Cambria"/>
              </a:rPr>
              <a:t>origins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2"/>
          <p:cNvSpPr/>
          <p:nvPr/>
        </p:nvSpPr>
        <p:spPr>
          <a:xfrm>
            <a:off x="342900" y="493776"/>
            <a:ext cx="61800" cy="61800"/>
          </a:xfrm>
          <a:prstGeom prst="ellipse">
            <a:avLst/>
          </a:prstGeom>
          <a:solidFill>
            <a:srgbClr val="1C1B18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2"/>
          <p:cNvSpPr/>
          <p:nvPr/>
        </p:nvSpPr>
        <p:spPr>
          <a:xfrm>
            <a:off x="493776" y="466344"/>
            <a:ext cx="2057400" cy="1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A8271"/>
              </a:buClr>
              <a:buSzPts val="700"/>
              <a:buFont typeface="Calibri"/>
              <a:buNone/>
            </a:pPr>
            <a:r>
              <a:rPr lang="en" sz="700" b="0" i="0" u="none" strike="noStrike" cap="none">
                <a:solidFill>
                  <a:srgbClr val="8A8271"/>
                </a:solidFill>
                <a:latin typeface="Calibri"/>
                <a:ea typeface="Calibri"/>
                <a:cs typeface="Calibri"/>
                <a:sym typeface="Calibri"/>
              </a:rPr>
              <a:t>CSI-VITC  ·  ORIGINS 2026</a:t>
            </a:r>
            <a:endParaRPr sz="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/>
          <p:nvPr/>
        </p:nvSpPr>
        <p:spPr>
          <a:xfrm>
            <a:off x="8263890" y="219456"/>
            <a:ext cx="617100" cy="246900"/>
          </a:xfrm>
          <a:prstGeom prst="roundRect">
            <a:avLst>
              <a:gd name="adj" fmla="val 50000"/>
            </a:avLst>
          </a:prstGeom>
          <a:solidFill>
            <a:srgbClr val="FAF3E6"/>
          </a:solidFill>
          <a:ln w="12700" cap="flat" cmpd="sng">
            <a:solidFill>
              <a:srgbClr val="1C1B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22"/>
          <p:cNvSpPr/>
          <p:nvPr/>
        </p:nvSpPr>
        <p:spPr>
          <a:xfrm>
            <a:off x="8263890" y="219456"/>
            <a:ext cx="6171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B18"/>
              </a:buClr>
              <a:buSzPts val="800"/>
              <a:buFont typeface="Calibri"/>
              <a:buNone/>
            </a:pPr>
            <a:r>
              <a:rPr lang="en" sz="8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" sz="800" b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" sz="800" b="1" i="0" u="none" strike="noStrike" cap="none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 / 0</a:t>
            </a:r>
            <a:r>
              <a:rPr lang="en" sz="800" b="1">
                <a:solidFill>
                  <a:srgbClr val="1C1B1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120B5A-0261-680B-C632-3AB3576CB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174" y="637944"/>
            <a:ext cx="2697744" cy="42864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4D99EF-4B51-A129-306C-DDAAEE025893}"/>
              </a:ext>
            </a:extLst>
          </p:cNvPr>
          <p:cNvSpPr txBox="1"/>
          <p:nvPr/>
        </p:nvSpPr>
        <p:spPr>
          <a:xfrm>
            <a:off x="3141961" y="1093162"/>
            <a:ext cx="573902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 Math Hallucinations:</a:t>
            </a:r>
            <a:r>
              <a:rPr lang="en-IN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financial math and discount calculations are executed deterministically inside the </a:t>
            </a:r>
            <a:r>
              <a:rPr lang="en-IN" b="1" dirty="0" err="1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CodeCrafters</a:t>
            </a:r>
            <a:r>
              <a:rPr lang="en-IN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runtime environment, not raw LLM text generation.</a:t>
            </a:r>
          </a:p>
          <a:p>
            <a:pPr lvl="0"/>
            <a:r>
              <a:rPr lang="en-IN" b="1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Deterministic Guardrails:</a:t>
            </a:r>
            <a:r>
              <a:rPr lang="en-IN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Hard-coded bounds prevent the Voice Agent from offering discounts higher than </a:t>
            </a:r>
            <a:r>
              <a:rPr lang="en-IN" b="1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15%</a:t>
            </a:r>
            <a:r>
              <a:rPr lang="en-IN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releasing funds without dual verbal consent.</a:t>
            </a:r>
          </a:p>
          <a:p>
            <a:pPr lvl="0"/>
            <a:r>
              <a:rPr lang="en-IN" b="1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Human-in-the-Loop (HITL) Gate:</a:t>
            </a:r>
            <a:r>
              <a:rPr lang="en-IN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Any transaction over </a:t>
            </a:r>
            <a:r>
              <a:rPr lang="en-IN" b="1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$1,000</a:t>
            </a:r>
            <a:r>
              <a:rPr lang="en-IN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automatically triggers an emergency pause, requiring a 1-click confirmation on the admin dashboard.</a:t>
            </a:r>
          </a:p>
          <a:p>
            <a:pPr lvl="0"/>
            <a:r>
              <a:rPr lang="en-IN" b="1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Privacy &amp; Compliance:</a:t>
            </a:r>
            <a:r>
              <a:rPr lang="en-IN" dirty="0">
                <a:solidFill>
                  <a:srgbClr val="948C7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Uses synthetic banking telemetry and open-banking sandbox APIs with zero PII retention on LLM servers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1142</Words>
  <Application>Microsoft Office PowerPoint</Application>
  <PresentationFormat>On-screen Show (16:9)</PresentationFormat>
  <Paragraphs>158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Avanthika P</cp:lastModifiedBy>
  <cp:revision>3</cp:revision>
  <dcterms:modified xsi:type="dcterms:W3CDTF">2026-08-13T15:41:43Z</dcterms:modified>
</cp:coreProperties>
</file>